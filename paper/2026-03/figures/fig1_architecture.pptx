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3588" cy="5335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02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7F4AE20E-9709-358B-FA8C-2F5EA9FACB1F}"/>
              </a:ext>
            </a:extLst>
          </p:cNvPr>
          <p:cNvGrpSpPr/>
          <p:nvPr/>
        </p:nvGrpSpPr>
        <p:grpSpPr>
          <a:xfrm>
            <a:off x="277586" y="420360"/>
            <a:ext cx="11585359" cy="2455823"/>
            <a:chOff x="277586" y="420360"/>
            <a:chExt cx="11585359" cy="2455823"/>
          </a:xfrm>
        </p:grpSpPr>
        <p:sp>
          <p:nvSpPr>
            <p:cNvPr id="2" name="Rounded Rectangle 1"/>
            <p:cNvSpPr/>
            <p:nvPr/>
          </p:nvSpPr>
          <p:spPr>
            <a:xfrm>
              <a:off x="1649321" y="439415"/>
              <a:ext cx="3474978" cy="2436768"/>
            </a:xfrm>
            <a:prstGeom prst="roundRect">
              <a:avLst/>
            </a:prstGeom>
            <a:solidFill>
              <a:srgbClr val="EFF6FF">
                <a:alpha val="50000"/>
              </a:srgbClr>
            </a:solidFill>
            <a:ln w="12700">
              <a:solidFill>
                <a:srgbClr val="93C5F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168392" y="420360"/>
              <a:ext cx="277223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1D4ED8"/>
                  </a:solidFill>
                </a:rPr>
                <a:t>Dual-Stream Embedding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7574152" y="439414"/>
              <a:ext cx="2307398" cy="2305011"/>
            </a:xfrm>
            <a:prstGeom prst="roundRect">
              <a:avLst/>
            </a:prstGeom>
            <a:solidFill>
              <a:srgbClr val="ECFDF5">
                <a:alpha val="50000"/>
              </a:srgbClr>
            </a:solidFill>
            <a:ln w="12700">
              <a:solidFill>
                <a:srgbClr val="6EE7B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547306" y="520497"/>
              <a:ext cx="240918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065F46"/>
                  </a:solidFill>
                </a:rPr>
                <a:t>Transformer Encoder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976642" y="439413"/>
              <a:ext cx="1886303" cy="2436769"/>
            </a:xfrm>
            <a:prstGeom prst="roundRect">
              <a:avLst/>
            </a:prstGeom>
            <a:solidFill>
              <a:srgbClr val="F9FAFB">
                <a:alpha val="50000"/>
              </a:srgbClr>
            </a:solidFill>
            <a:ln w="12700">
              <a:solidFill>
                <a:srgbClr val="D1D5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94161" y="432822"/>
              <a:ext cx="166423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374151"/>
                  </a:solidFill>
                </a:rPr>
                <a:t>Output Heads</a:t>
              </a:r>
            </a:p>
          </p:txBody>
        </p:sp>
        <p:grpSp>
          <p:nvGrpSpPr>
            <p:cNvPr id="75" name="グループ化 74">
              <a:extLst>
                <a:ext uri="{FF2B5EF4-FFF2-40B4-BE49-F238E27FC236}">
                  <a16:creationId xmlns:a16="http://schemas.microsoft.com/office/drawing/2014/main" id="{17803BED-AAD8-E3D7-42DD-5128F91C0FF8}"/>
                </a:ext>
              </a:extLst>
            </p:cNvPr>
            <p:cNvGrpSpPr/>
            <p:nvPr/>
          </p:nvGrpSpPr>
          <p:grpSpPr>
            <a:xfrm>
              <a:off x="277586" y="1339460"/>
              <a:ext cx="1257423" cy="762171"/>
              <a:chOff x="0" y="2286514"/>
              <a:chExt cx="1257423" cy="762171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0" y="2286514"/>
                <a:ext cx="1257423" cy="762171"/>
              </a:xfrm>
              <a:prstGeom prst="roundRect">
                <a:avLst/>
              </a:prstGeom>
              <a:solidFill>
                <a:srgbClr val="F3F4F6"/>
              </a:solidFill>
              <a:ln w="22860">
                <a:solidFill>
                  <a:srgbClr val="37415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00628" y="2304020"/>
                <a:ext cx="75533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374151"/>
                    </a:solidFill>
                  </a:rPr>
                  <a:t>Input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37118" y="2602096"/>
                    <a:ext cx="1203085" cy="400110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000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oMath>
                      </m:oMathPara>
                    </a14:m>
                    <a:endParaRPr sz="2000" b="1" dirty="0">
                      <a:solidFill>
                        <a:srgbClr val="37415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18" y="2602096"/>
                    <a:ext cx="1203085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Rounded Rectangle 10"/>
            <p:cNvSpPr/>
            <p:nvPr/>
          </p:nvSpPr>
          <p:spPr>
            <a:xfrm>
              <a:off x="1763632" y="863476"/>
              <a:ext cx="1653028" cy="770628"/>
            </a:xfrm>
            <a:prstGeom prst="roundRect">
              <a:avLst/>
            </a:prstGeom>
            <a:solidFill>
              <a:srgbClr val="DBEAFE"/>
            </a:solidFill>
            <a:ln w="190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38983" y="892815"/>
              <a:ext cx="169847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3B82F6"/>
                  </a:solidFill>
                </a:rPr>
                <a:t>Mag. Features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994896" y="1191547"/>
                  <a:ext cx="1374351" cy="44236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ja-JP" sz="2000" b="1" i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𝐦𝐚𝐠</m:t>
                            </m:r>
                          </m:sup>
                        </m:sSubSup>
                        <m:r>
                          <a:rPr lang="en-US" altLang="ja-JP" sz="2000" b="1" i="1" smtClean="0">
                            <a:solidFill>
                              <a:srgbClr val="3B82F6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sz="2000" b="1" dirty="0">
                    <a:solidFill>
                      <a:srgbClr val="3B82F6"/>
                    </a:solidFill>
                  </a:endParaRPr>
                </a:p>
              </p:txBody>
            </p:sp>
          </mc:Choice>
          <mc:Fallback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4896" y="1191547"/>
                  <a:ext cx="1374351" cy="442365"/>
                </a:xfrm>
                <a:prstGeom prst="rect">
                  <a:avLst/>
                </a:prstGeom>
                <a:blipFill>
                  <a:blip r:embed="rId3"/>
                  <a:stretch>
                    <a:fillRect l="-1327" b="-821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ounded Rectangle 13"/>
            <p:cNvSpPr/>
            <p:nvPr/>
          </p:nvSpPr>
          <p:spPr>
            <a:xfrm>
              <a:off x="1763632" y="1983239"/>
              <a:ext cx="1668943" cy="786209"/>
            </a:xfrm>
            <a:prstGeom prst="roundRect">
              <a:avLst/>
            </a:prstGeom>
            <a:solidFill>
              <a:srgbClr val="FFEDD5"/>
            </a:solidFill>
            <a:ln w="19050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62941" y="2017921"/>
              <a:ext cx="172572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F97316"/>
                  </a:solidFill>
                </a:rPr>
                <a:t>Mod. Features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815721" y="2332571"/>
                  <a:ext cx="1618007" cy="42851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ja-JP" sz="2000" b="1" i="0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𝐦𝐨𝐝</m:t>
                            </m:r>
                          </m:sup>
                        </m:sSubSup>
                        <m:r>
                          <a:rPr lang="en-US" altLang="ja-JP" sz="2000" b="1" i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𝟐𝟎𝟎</m:t>
                            </m:r>
                          </m:sup>
                        </m:sSup>
                      </m:oMath>
                    </m:oMathPara>
                  </a14:m>
                  <a:endParaRPr sz="2000" b="1" dirty="0">
                    <a:solidFill>
                      <a:srgbClr val="F97316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5721" y="2332571"/>
                  <a:ext cx="1618007" cy="428515"/>
                </a:xfrm>
                <a:prstGeom prst="rect">
                  <a:avLst/>
                </a:prstGeom>
                <a:blipFill>
                  <a:blip r:embed="rId4"/>
                  <a:stretch>
                    <a:fillRect l="-1132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ounded Rectangle 16"/>
            <p:cNvSpPr/>
            <p:nvPr/>
          </p:nvSpPr>
          <p:spPr>
            <a:xfrm>
              <a:off x="3608864" y="863476"/>
              <a:ext cx="1445008" cy="768599"/>
            </a:xfrm>
            <a:prstGeom prst="roundRect">
              <a:avLst/>
            </a:prstGeom>
            <a:solidFill>
              <a:srgbClr val="BFDBFE"/>
            </a:solidFill>
            <a:ln w="190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11224" y="866388"/>
              <a:ext cx="96051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3B82F6"/>
                  </a:solidFill>
                </a:rPr>
                <a:t>MLP</a:t>
              </a:r>
              <a:r>
                <a:rPr sz="2000" b="1" baseline="-25000" dirty="0" err="1">
                  <a:solidFill>
                    <a:srgbClr val="3B82F6"/>
                  </a:solidFill>
                </a:rPr>
                <a:t>mag</a:t>
              </a:r>
              <a:endParaRPr sz="2000" b="1" baseline="-25000" dirty="0">
                <a:solidFill>
                  <a:srgbClr val="3B82F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3608331" y="1189800"/>
                  <a:ext cx="1502190" cy="4423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ja-JP" sz="2000" b="1" i="0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𝐦𝐚𝐠</m:t>
                            </m:r>
                          </m:sup>
                        </m:sSubSup>
                        <m:r>
                          <a:rPr lang="en-US" altLang="ja-JP" sz="2000" b="1" i="1" smtClean="0">
                            <a:solidFill>
                              <a:srgbClr val="3B82F6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ja-JP" sz="2000" b="1" i="1" smtClean="0">
                                <a:solidFill>
                                  <a:srgbClr val="3B82F6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p>
                        </m:sSup>
                      </m:oMath>
                    </m:oMathPara>
                  </a14:m>
                  <a:endParaRPr sz="2000" b="1" dirty="0">
                    <a:solidFill>
                      <a:srgbClr val="3B82F6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8331" y="1189800"/>
                  <a:ext cx="1502190" cy="442365"/>
                </a:xfrm>
                <a:prstGeom prst="rect">
                  <a:avLst/>
                </a:prstGeom>
                <a:blipFill>
                  <a:blip r:embed="rId5"/>
                  <a:stretch>
                    <a:fillRect b="-274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ounded Rectangle 19"/>
            <p:cNvSpPr/>
            <p:nvPr/>
          </p:nvSpPr>
          <p:spPr>
            <a:xfrm>
              <a:off x="3632999" y="1981199"/>
              <a:ext cx="1381395" cy="788249"/>
            </a:xfrm>
            <a:prstGeom prst="roundRect">
              <a:avLst/>
            </a:prstGeom>
            <a:solidFill>
              <a:srgbClr val="FED7AA"/>
            </a:solidFill>
            <a:ln w="19050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16243" y="1903830"/>
              <a:ext cx="73231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F97316"/>
                  </a:solidFill>
                </a:rPr>
                <a:t>W</a:t>
              </a:r>
              <a:r>
                <a:rPr lang="en-US" sz="2000" b="1" baseline="-25000" dirty="0" err="1">
                  <a:solidFill>
                    <a:srgbClr val="F97316"/>
                  </a:solidFill>
                </a:rPr>
                <a:t>mod</a:t>
              </a:r>
              <a:endParaRPr sz="2000" b="1" baseline="-25000" dirty="0">
                <a:solidFill>
                  <a:srgbClr val="F9731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3637008" y="2328333"/>
                  <a:ext cx="1419235" cy="42851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ja-JP" sz="2000" b="1" i="0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𝐦𝐨𝐝</m:t>
                            </m:r>
                          </m:sup>
                        </m:sSubSup>
                        <m:r>
                          <a:rPr lang="en-US" altLang="ja-JP" sz="2000" b="1" i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ja-JP" sz="2000" b="1" i="1" smtClean="0">
                                <a:solidFill>
                                  <a:srgbClr val="F97316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p>
                        </m:sSup>
                      </m:oMath>
                    </m:oMathPara>
                  </a14:m>
                  <a:endParaRPr sz="2000" b="1" dirty="0">
                    <a:solidFill>
                      <a:srgbClr val="F97316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008" y="2328333"/>
                  <a:ext cx="1419235" cy="428515"/>
                </a:xfrm>
                <a:prstGeom prst="rect">
                  <a:avLst/>
                </a:prstGeom>
                <a:blipFill>
                  <a:blip r:embed="rId6"/>
                  <a:stretch>
                    <a:fillRect b="-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ounded Rectangle 27"/>
            <p:cNvSpPr/>
            <p:nvPr/>
          </p:nvSpPr>
          <p:spPr>
            <a:xfrm>
              <a:off x="7823687" y="1521462"/>
              <a:ext cx="1981395" cy="896569"/>
            </a:xfrm>
            <a:prstGeom prst="roundRect">
              <a:avLst/>
            </a:prstGeom>
            <a:solidFill>
              <a:srgbClr val="D1FAE5">
                <a:alpha val="70000"/>
              </a:srgbClr>
            </a:solidFill>
            <a:ln w="15240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7724654" y="1381109"/>
              <a:ext cx="1981395" cy="896568"/>
            </a:xfrm>
            <a:prstGeom prst="roundRect">
              <a:avLst/>
            </a:prstGeom>
            <a:solidFill>
              <a:srgbClr val="D1FAE5">
                <a:alpha val="85000"/>
              </a:srgbClr>
            </a:solidFill>
            <a:ln w="15240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7642584" y="1219113"/>
              <a:ext cx="1981395" cy="918895"/>
            </a:xfrm>
            <a:prstGeom prst="roundRect">
              <a:avLst/>
            </a:prstGeom>
            <a:solidFill>
              <a:srgbClr val="D1FAE5"/>
            </a:solidFill>
            <a:ln w="15240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176350" y="1213920"/>
              <a:ext cx="89511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10B981"/>
                  </a:solidFill>
                </a:rPr>
                <a:t>Pre-LN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687082" y="1465437"/>
              <a:ext cx="187365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0" dirty="0">
                  <a:solidFill>
                    <a:srgbClr val="10B981"/>
                  </a:solidFill>
                </a:rPr>
                <a:t>Multi-Head Attn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330398" y="1701710"/>
              <a:ext cx="58702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0">
                  <a:solidFill>
                    <a:srgbClr val="10B981"/>
                  </a:solidFill>
                </a:rPr>
                <a:t>FFN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99774" y="804880"/>
              <a:ext cx="11630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065F46"/>
                  </a:solidFill>
                </a:rPr>
                <a:t>×N layers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090953" y="802040"/>
              <a:ext cx="1653803" cy="579069"/>
            </a:xfrm>
            <a:prstGeom prst="roundRect">
              <a:avLst/>
            </a:prstGeom>
            <a:solidFill>
              <a:srgbClr val="FEF3C7"/>
            </a:solidFill>
            <a:ln w="19050">
              <a:solidFill>
                <a:srgbClr val="D9770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279613" y="786227"/>
              <a:ext cx="135165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D97706"/>
                  </a:solidFill>
                </a:rPr>
                <a:t>Magnitude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286153" y="1011974"/>
              <a:ext cx="133857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D97706"/>
                  </a:solidFill>
                </a:rPr>
                <a:t>Regression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098574" y="1479606"/>
              <a:ext cx="1653803" cy="538315"/>
            </a:xfrm>
            <a:prstGeom prst="roundRect">
              <a:avLst/>
            </a:prstGeom>
            <a:solidFill>
              <a:srgbClr val="E0F2FE"/>
            </a:solidFill>
            <a:ln w="19050">
              <a:solidFill>
                <a:srgbClr val="0284C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652896" y="1419616"/>
              <a:ext cx="62869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0284C7"/>
                  </a:solidFill>
                </a:rPr>
                <a:t>Sign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138475" y="1652214"/>
              <a:ext cx="157863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0284C7"/>
                  </a:solidFill>
                </a:rPr>
                <a:t>Classification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0090953" y="2074277"/>
              <a:ext cx="1653803" cy="617527"/>
            </a:xfrm>
            <a:prstGeom prst="roundRect">
              <a:avLst/>
            </a:prstGeom>
            <a:solidFill>
              <a:srgbClr val="FCE7F3"/>
            </a:solidFill>
            <a:ln w="19050">
              <a:solidFill>
                <a:srgbClr val="BE18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098574" y="2035283"/>
              <a:ext cx="159851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BE185D"/>
                  </a:solidFill>
                </a:rPr>
                <a:t>Modulo ×100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118452" y="2291694"/>
              <a:ext cx="157863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>
                  <a:solidFill>
                    <a:srgbClr val="BE185D"/>
                  </a:solidFill>
                </a:rPr>
                <a:t>Classification</a:t>
              </a:r>
            </a:p>
          </p:txBody>
        </p:sp>
        <p:cxnSp>
          <p:nvCxnSpPr>
            <p:cNvPr id="47" name="Connector 46"/>
            <p:cNvCxnSpPr>
              <a:cxnSpLocks/>
              <a:stCxn id="8" idx="3"/>
            </p:cNvCxnSpPr>
            <p:nvPr/>
          </p:nvCxnSpPr>
          <p:spPr>
            <a:xfrm flipV="1">
              <a:off x="1535009" y="1239694"/>
              <a:ext cx="228623" cy="480852"/>
            </a:xfrm>
            <a:prstGeom prst="line">
              <a:avLst/>
            </a:prstGeom>
            <a:ln w="17780">
              <a:solidFill>
                <a:srgbClr val="3B82F6"/>
              </a:solidFill>
              <a:headEnd type="none" w="med" len="med"/>
              <a:tailEnd type="arrow"/>
            </a:ln>
          </p:spPr>
          <p:style>
            <a:lnRef idx="2">
              <a:srgbClr val="3B82F6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>
              <a:cxnSpLocks/>
              <a:stCxn id="8" idx="3"/>
              <a:endCxn id="14" idx="1"/>
            </p:cNvCxnSpPr>
            <p:nvPr/>
          </p:nvCxnSpPr>
          <p:spPr>
            <a:xfrm>
              <a:off x="1535009" y="1720546"/>
              <a:ext cx="228623" cy="655798"/>
            </a:xfrm>
            <a:prstGeom prst="line">
              <a:avLst/>
            </a:prstGeom>
            <a:ln w="17780">
              <a:solidFill>
                <a:srgbClr val="F97316"/>
              </a:solidFill>
              <a:headEnd type="none" w="med" len="med"/>
              <a:tailEnd type="arrow"/>
            </a:ln>
          </p:spPr>
          <p:style>
            <a:lnRef idx="2">
              <a:srgbClr val="F97316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>
              <a:cxnSpLocks/>
              <a:stCxn id="11" idx="3"/>
              <a:endCxn id="17" idx="1"/>
            </p:cNvCxnSpPr>
            <p:nvPr/>
          </p:nvCxnSpPr>
          <p:spPr>
            <a:xfrm flipV="1">
              <a:off x="3416660" y="1247776"/>
              <a:ext cx="192204" cy="1014"/>
            </a:xfrm>
            <a:prstGeom prst="line">
              <a:avLst/>
            </a:prstGeom>
            <a:ln w="17780">
              <a:solidFill>
                <a:srgbClr val="3B82F6"/>
              </a:solidFill>
              <a:headEnd type="none" w="med" len="med"/>
              <a:tailEnd type="arrow"/>
            </a:ln>
          </p:spPr>
          <p:style>
            <a:lnRef idx="2">
              <a:srgbClr val="3B82F6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>
              <a:cxnSpLocks/>
              <a:stCxn id="14" idx="3"/>
              <a:endCxn id="20" idx="1"/>
            </p:cNvCxnSpPr>
            <p:nvPr/>
          </p:nvCxnSpPr>
          <p:spPr>
            <a:xfrm flipV="1">
              <a:off x="3432575" y="2375324"/>
              <a:ext cx="200424" cy="1020"/>
            </a:xfrm>
            <a:prstGeom prst="line">
              <a:avLst/>
            </a:prstGeom>
            <a:ln w="17780">
              <a:solidFill>
                <a:srgbClr val="F97316"/>
              </a:solidFill>
              <a:headEnd type="none" w="med" len="med"/>
              <a:tailEnd type="arrow"/>
            </a:ln>
          </p:spPr>
          <p:style>
            <a:lnRef idx="2">
              <a:srgbClr val="F97316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>
              <a:cxnSpLocks/>
              <a:stCxn id="17" idx="3"/>
              <a:endCxn id="23" idx="1"/>
            </p:cNvCxnSpPr>
            <p:nvPr/>
          </p:nvCxnSpPr>
          <p:spPr>
            <a:xfrm>
              <a:off x="5053872" y="1247776"/>
              <a:ext cx="180047" cy="430785"/>
            </a:xfrm>
            <a:prstGeom prst="line">
              <a:avLst/>
            </a:prstGeom>
            <a:ln w="17780">
              <a:solidFill>
                <a:srgbClr val="3B82F6"/>
              </a:solidFill>
              <a:headEnd type="none" w="med" len="med"/>
              <a:tailEnd type="arrow"/>
            </a:ln>
          </p:spPr>
          <p:style>
            <a:lnRef idx="2">
              <a:srgbClr val="3B82F6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>
              <a:cxnSpLocks/>
              <a:stCxn id="20" idx="3"/>
              <a:endCxn id="23" idx="1"/>
            </p:cNvCxnSpPr>
            <p:nvPr/>
          </p:nvCxnSpPr>
          <p:spPr>
            <a:xfrm flipV="1">
              <a:off x="5014394" y="1678561"/>
              <a:ext cx="219525" cy="696763"/>
            </a:xfrm>
            <a:prstGeom prst="line">
              <a:avLst/>
            </a:prstGeom>
            <a:ln w="17780">
              <a:solidFill>
                <a:srgbClr val="F97316"/>
              </a:solidFill>
              <a:headEnd type="none" w="med" len="med"/>
              <a:tailEnd type="arrow"/>
            </a:ln>
          </p:spPr>
          <p:style>
            <a:lnRef idx="2">
              <a:srgbClr val="F97316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2"/>
            <p:cNvSpPr/>
            <p:nvPr/>
          </p:nvSpPr>
          <p:spPr>
            <a:xfrm>
              <a:off x="5233919" y="664308"/>
              <a:ext cx="2183051" cy="2028506"/>
            </a:xfrm>
            <a:prstGeom prst="roundRect">
              <a:avLst/>
            </a:prstGeom>
            <a:solidFill>
              <a:srgbClr val="EDE9FE"/>
            </a:solidFill>
            <a:ln w="22860">
              <a:solidFill>
                <a:srgbClr val="8B5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70440" y="729871"/>
              <a:ext cx="132901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8B5CF6"/>
                  </a:solidFill>
                </a:rPr>
                <a:t>FiLM</a:t>
              </a:r>
              <a:r>
                <a:rPr sz="2000" b="1" dirty="0">
                  <a:solidFill>
                    <a:srgbClr val="8B5CF6"/>
                  </a:solidFill>
                </a:rPr>
                <a:t> Fusion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233919" y="1072315"/>
                  <a:ext cx="2251577" cy="40729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nl-NL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b="1" i="1" smtClean="0">
                                    <a:solidFill>
                                      <a:srgbClr val="8B5CF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 i="1" smtClean="0">
                                    <a:solidFill>
                                      <a:srgbClr val="8B5CF6"/>
                                    </a:solidFill>
                                    <a:latin typeface="Cambria Math" panose="02040503050406030204" pitchFamily="18" charset="0"/>
                                  </a:rPr>
                                  <m:t>𝜸</m:t>
                                </m:r>
                              </m:e>
                              <m:sub>
                                <m:r>
                                  <a:rPr lang="en-US" altLang="ja-JP" b="1" i="1" smtClean="0">
                                    <a:solidFill>
                                      <a:srgbClr val="8B5CF6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ja-JP" b="1" i="1" smtClean="0">
                            <a:solidFill>
                              <a:srgbClr val="8B5CF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⨀</m:t>
                        </m:r>
                        <m:sSubSup>
                          <m:sSubSupPr>
                            <m:ctrlP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ja-JP" b="1" i="0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𝐦𝐚𝐠</m:t>
                            </m:r>
                          </m:sup>
                        </m:sSubSup>
                        <m:r>
                          <a:rPr lang="en-US" altLang="ja-JP" b="1" i="1" smtClean="0">
                            <a:solidFill>
                              <a:srgbClr val="8B5CF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b="1" dirty="0">
                    <a:solidFill>
                      <a:srgbClr val="8B5CF6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919" y="1072315"/>
                  <a:ext cx="2251577" cy="407291"/>
                </a:xfrm>
                <a:prstGeom prst="rect">
                  <a:avLst/>
                </a:prstGeom>
                <a:blipFill>
                  <a:blip r:embed="rId7"/>
                  <a:stretch>
                    <a:fillRect b="-746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5556543" y="1472425"/>
                  <a:ext cx="1627177" cy="74546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ja-JP" b="1" i="1" smtClean="0">
                            <a:solidFill>
                              <a:srgbClr val="8B5CF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𝜸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ja-JP" b="1" i="0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𝐦𝐨𝐝</m:t>
                            </m:r>
                          </m:sup>
                        </m:sSubSup>
                      </m:oMath>
                    </m:oMathPara>
                  </a14:m>
                  <a:endParaRPr lang="en-US" b="1" dirty="0">
                    <a:solidFill>
                      <a:srgbClr val="8B5CF6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ja-JP" b="1" i="1" smtClean="0">
                            <a:solidFill>
                              <a:srgbClr val="8B5CF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ja-JP" b="1" i="1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ja-JP" b="1" i="0" smtClean="0">
                                <a:solidFill>
                                  <a:srgbClr val="8B5CF6"/>
                                </a:solidFill>
                                <a:latin typeface="Cambria Math" panose="02040503050406030204" pitchFamily="18" charset="0"/>
                              </a:rPr>
                              <m:t>𝐦𝐨𝐝</m:t>
                            </m:r>
                          </m:sup>
                        </m:sSubSup>
                      </m:oMath>
                    </m:oMathPara>
                  </a14:m>
                  <a:endParaRPr b="1" dirty="0">
                    <a:solidFill>
                      <a:srgbClr val="8B5CF6"/>
                    </a:solidFill>
                  </a:endParaRPr>
                </a:p>
              </p:txBody>
            </p:sp>
          </mc:Choice>
          <mc:Fallback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6543" y="1472425"/>
                  <a:ext cx="1627177" cy="745460"/>
                </a:xfrm>
                <a:prstGeom prst="rect">
                  <a:avLst/>
                </a:prstGeom>
                <a:blipFill>
                  <a:blip r:embed="rId8"/>
                  <a:stretch>
                    <a:fillRect l="-1128" b="-409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Connector 52"/>
            <p:cNvCxnSpPr>
              <a:cxnSpLocks/>
              <a:stCxn id="23" idx="3"/>
              <a:endCxn id="30" idx="1"/>
            </p:cNvCxnSpPr>
            <p:nvPr/>
          </p:nvCxnSpPr>
          <p:spPr>
            <a:xfrm>
              <a:off x="7416970" y="1678561"/>
              <a:ext cx="225614" cy="0"/>
            </a:xfrm>
            <a:prstGeom prst="line">
              <a:avLst/>
            </a:prstGeom>
            <a:ln w="20320">
              <a:solidFill>
                <a:srgbClr val="8B5CF6"/>
              </a:solidFill>
              <a:headEnd type="none" w="med" len="med"/>
              <a:tailEnd type="arrow"/>
            </a:ln>
          </p:spPr>
          <p:style>
            <a:lnRef idx="2">
              <a:srgbClr val="8B5CF6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>
              <a:cxnSpLocks/>
              <a:stCxn id="30" idx="3"/>
              <a:endCxn id="35" idx="1"/>
            </p:cNvCxnSpPr>
            <p:nvPr/>
          </p:nvCxnSpPr>
          <p:spPr>
            <a:xfrm flipV="1">
              <a:off x="9623979" y="1091575"/>
              <a:ext cx="466974" cy="586986"/>
            </a:xfrm>
            <a:prstGeom prst="line">
              <a:avLst/>
            </a:prstGeom>
            <a:ln w="15240">
              <a:solidFill>
                <a:srgbClr val="6B7280"/>
              </a:solidFill>
              <a:headEnd type="none" w="med" len="med"/>
              <a:tailEnd type="arrow"/>
            </a:ln>
          </p:spPr>
          <p:style>
            <a:lnRef idx="2">
              <a:srgbClr val="6B7280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>
              <a:cxnSpLocks/>
              <a:stCxn id="30" idx="3"/>
              <a:endCxn id="39" idx="1"/>
            </p:cNvCxnSpPr>
            <p:nvPr/>
          </p:nvCxnSpPr>
          <p:spPr>
            <a:xfrm>
              <a:off x="9623979" y="1678561"/>
              <a:ext cx="474595" cy="70203"/>
            </a:xfrm>
            <a:prstGeom prst="line">
              <a:avLst/>
            </a:prstGeom>
            <a:ln w="15240">
              <a:solidFill>
                <a:srgbClr val="6B7280"/>
              </a:solidFill>
              <a:headEnd type="none" w="med" len="med"/>
              <a:tailEnd type="arrow"/>
            </a:ln>
          </p:spPr>
          <p:style>
            <a:lnRef idx="2">
              <a:srgbClr val="6B7280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>
              <a:cxnSpLocks/>
              <a:stCxn id="30" idx="3"/>
              <a:endCxn id="43" idx="1"/>
            </p:cNvCxnSpPr>
            <p:nvPr/>
          </p:nvCxnSpPr>
          <p:spPr>
            <a:xfrm>
              <a:off x="9623979" y="1678561"/>
              <a:ext cx="466974" cy="704480"/>
            </a:xfrm>
            <a:prstGeom prst="line">
              <a:avLst/>
            </a:prstGeom>
            <a:ln w="15240">
              <a:solidFill>
                <a:srgbClr val="6B7280"/>
              </a:solidFill>
              <a:headEnd type="none" w="med" len="med"/>
              <a:tailEnd type="arrow"/>
            </a:ln>
          </p:spPr>
          <p:style>
            <a:lnRef idx="2">
              <a:srgbClr val="6B7280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25">
              <a:extLst>
                <a:ext uri="{FF2B5EF4-FFF2-40B4-BE49-F238E27FC236}">
                  <a16:creationId xmlns:a16="http://schemas.microsoft.com/office/drawing/2014/main" id="{54317EE6-0E41-1239-3C0B-C72D718AA343}"/>
                </a:ext>
              </a:extLst>
            </p:cNvPr>
            <p:cNvSpPr txBox="1"/>
            <p:nvPr/>
          </p:nvSpPr>
          <p:spPr>
            <a:xfrm>
              <a:off x="5276055" y="2192127"/>
              <a:ext cx="219906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8B5CF6"/>
                  </a:solidFill>
                </a:rPr>
                <a:t>+Position Encoding</a:t>
              </a:r>
              <a:endParaRPr sz="2000" dirty="0">
                <a:solidFill>
                  <a:srgbClr val="8B5CF6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64</Words>
  <Application>Microsoft Office PowerPoint</Application>
  <PresentationFormat>ユーザー設定</PresentationFormat>
  <Paragraphs>28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和久 中正</cp:lastModifiedBy>
  <cp:revision>42</cp:revision>
  <dcterms:created xsi:type="dcterms:W3CDTF">2013-01-27T09:14:16Z</dcterms:created>
  <dcterms:modified xsi:type="dcterms:W3CDTF">2026-03-05T00:29:42Z</dcterms:modified>
  <cp:category/>
</cp:coreProperties>
</file>